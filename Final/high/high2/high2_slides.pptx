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62" r:id="rId3"/>
    <p:sldId id="257" r:id="rId5"/>
    <p:sldId id="258" r:id="rId6"/>
    <p:sldId id="259" r:id="rId7"/>
    <p:sldId id="260" r:id="rId8"/>
    <p:sldId id="261" r:id="rId9"/>
    <p:sldId id="264" r:id="rId10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484" userDrawn="1">
          <p15:clr>
            <a:srgbClr val="A4A3A4"/>
          </p15:clr>
        </p15:guide>
        <p15:guide id="2" pos="378" userDrawn="1">
          <p15:clr>
            <a:srgbClr val="A4A3A4"/>
          </p15:clr>
        </p15:guide>
        <p15:guide id="3" orient="horz" pos="2165" userDrawn="1">
          <p15:clr>
            <a:srgbClr val="A4A3A4"/>
          </p15:clr>
        </p15:guide>
        <p15:guide id="4" orient="horz" pos="3847" userDrawn="1">
          <p15:clr>
            <a:srgbClr val="A4A3A4"/>
          </p15:clr>
        </p15:guide>
        <p15:guide id="5" pos="3833" userDrawn="1">
          <p15:clr>
            <a:srgbClr val="A4A3A4"/>
          </p15:clr>
        </p15:guide>
        <p15:guide id="6" pos="72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484"/>
        <p:guide pos="378"/>
        <p:guide orient="horz" pos="2165"/>
        <p:guide orient="horz" pos="3847"/>
        <p:guide pos="3833"/>
        <p:guide pos="727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Google Shape;5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Google Shape;5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/>
          <a:srcRect t="17849" b="17849"/>
          <a:stretch>
            <a:fillRect/>
          </a:stretch>
        </p:blipFill>
        <p:spPr>
          <a:xfrm flipH="1">
            <a:off x="3483" y="856036"/>
            <a:ext cx="12190111" cy="522240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944" y="856036"/>
            <a:ext cx="12191998" cy="5222402"/>
          </a:xfrm>
          <a:prstGeom prst="rect">
            <a:avLst/>
          </a:prstGeom>
          <a:gradFill>
            <a:gsLst>
              <a:gs pos="0">
                <a:srgbClr val="A5A5A5">
                  <a:alpha val="92941"/>
                </a:srgbClr>
              </a:gs>
              <a:gs pos="75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Google Shape;3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 panose="020B060402020202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990941" y="1892745"/>
            <a:ext cx="3864829" cy="3064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>
  <p:cSld name="仅标题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2"/>
          <a:srcRect l="-8148" t="-21487" r="-8711" b="-5304"/>
          <a:stretch>
            <a:fillRect/>
          </a:stretch>
        </p:blipFill>
        <p:spPr>
          <a:xfrm>
            <a:off x="8338891" y="136525"/>
            <a:ext cx="4047772" cy="630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页">
  <p:cSld name="BLANK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body" idx="1"/>
          </p:nvPr>
        </p:nvSpPr>
        <p:spPr>
          <a:xfrm>
            <a:off x="546061" y="609600"/>
            <a:ext cx="26178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◆"/>
              <a:defRPr sz="28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页">
  <p:cSld name="空白页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1633" y="1709738"/>
            <a:ext cx="1051286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 panose="020B060402020202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body" idx="1"/>
          </p:nvPr>
        </p:nvSpPr>
        <p:spPr>
          <a:xfrm>
            <a:off x="831633" y="4589463"/>
            <a:ext cx="1051286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0965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165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5365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2565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199765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6965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353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type="dt" idx="10"/>
          </p:nvPr>
        </p:nvSpPr>
        <p:spPr>
          <a:xfrm>
            <a:off x="837982" y="6356350"/>
            <a:ext cx="27424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ftr" idx="11"/>
          </p:nvPr>
        </p:nvSpPr>
        <p:spPr>
          <a:xfrm>
            <a:off x="4037548" y="6356350"/>
            <a:ext cx="4113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type="sldNum" idx="12"/>
          </p:nvPr>
        </p:nvSpPr>
        <p:spPr>
          <a:xfrm>
            <a:off x="8608358" y="6356350"/>
            <a:ext cx="27424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9C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0"/>
          <p:cNvPicPr preferRelativeResize="0"/>
          <p:nvPr/>
        </p:nvPicPr>
        <p:blipFill rotWithShape="1">
          <a:blip r:embed="rId1"/>
          <a:srcRect t="20604" b="20604"/>
          <a:stretch>
            <a:fillRect/>
          </a:stretch>
        </p:blipFill>
        <p:spPr>
          <a:xfrm>
            <a:off x="-8963" y="1606210"/>
            <a:ext cx="12212264" cy="302263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>
            <a:off x="-14477" y="1621302"/>
            <a:ext cx="12212264" cy="3013674"/>
          </a:xfrm>
          <a:prstGeom prst="rect">
            <a:avLst/>
          </a:prstGeom>
          <a:solidFill>
            <a:srgbClr val="003A89">
              <a:alpha val="81960"/>
            </a:srgbClr>
          </a:solidFill>
          <a:ln w="12700" cap="flat" cmpd="sng">
            <a:solidFill>
              <a:srgbClr val="48A1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>
                <a:solidFill>
                  <a:srgbClr val="FFFFFF"/>
                </a:solidFill>
                <a:sym typeface="Arial" panose="020B0604020202020204"/>
              </a:rPr>
              <a:t>CSS5120: Computational Linguistics</a:t>
            </a:r>
            <a:endParaRPr sz="2000" b="1" i="0" u="sng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LlamaIndex-Evolve: Self-Learning from Model Disagreements</a:t>
            </a:r>
            <a:endParaRPr lang="en-US" sz="4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60" name="Google Shape;60;p10"/>
          <p:cNvGrpSpPr/>
          <p:nvPr/>
        </p:nvGrpSpPr>
        <p:grpSpPr>
          <a:xfrm>
            <a:off x="9937416" y="4969389"/>
            <a:ext cx="2071087" cy="753740"/>
            <a:chOff x="1735423" y="6056049"/>
            <a:chExt cx="2350518" cy="753947"/>
          </a:xfrm>
        </p:grpSpPr>
        <p:sp>
          <p:nvSpPr>
            <p:cNvPr id="61" name="Google Shape;61;p10"/>
            <p:cNvSpPr txBox="1"/>
            <p:nvPr/>
          </p:nvSpPr>
          <p:spPr>
            <a:xfrm>
              <a:off x="1735423" y="6073829"/>
              <a:ext cx="2297590" cy="7361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48F57"/>
                </a:buClr>
                <a:buSzPts val="2400"/>
                <a:buFont typeface="Times New Roman" panose="02020603050405020304"/>
                <a:buNone/>
              </a:pPr>
              <a:r>
                <a:rPr lang="en-US" sz="2400" b="1" i="0" u="none" strike="noStrike" cap="none">
                  <a:solidFill>
                    <a:schemeClr val="tx2">
                      <a:lumMod val="10000"/>
                    </a:scheme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Mo Yanhua</a:t>
              </a:r>
              <a:endParaRPr sz="2400" b="1" i="0" u="none" strike="noStrike" cap="none">
                <a:solidFill>
                  <a:schemeClr val="tx2">
                    <a:lumMod val="1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2400" b="1" i="0" u="none" strike="noStrike" cap="none">
                <a:solidFill>
                  <a:schemeClr val="tx2">
                    <a:lumMod val="1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2" name="Google Shape;62;p10"/>
            <p:cNvSpPr txBox="1"/>
            <p:nvPr/>
          </p:nvSpPr>
          <p:spPr>
            <a:xfrm>
              <a:off x="2703715" y="6056049"/>
              <a:ext cx="201735" cy="336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 i="0" u="none" strike="noStrike" cap="none">
                <a:solidFill>
                  <a:srgbClr val="003A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" name="Google Shape;63;p10"/>
            <p:cNvSpPr txBox="1"/>
            <p:nvPr/>
          </p:nvSpPr>
          <p:spPr>
            <a:xfrm>
              <a:off x="3884205" y="6073829"/>
              <a:ext cx="201736" cy="367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i="0" u="none" strike="noStrike" cap="none">
                <a:solidFill>
                  <a:srgbClr val="003A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64" name="Google Shape;64;p10"/>
          <p:cNvPicPr preferRelativeResize="0"/>
          <p:nvPr/>
        </p:nvPicPr>
        <p:blipFill rotWithShape="1">
          <a:blip r:embed="rId2"/>
          <a:srcRect l="-5309" t="-4344" r="-2255" b="-7613"/>
          <a:stretch>
            <a:fillRect/>
          </a:stretch>
        </p:blipFill>
        <p:spPr>
          <a:xfrm>
            <a:off x="-7091" y="226176"/>
            <a:ext cx="4508333" cy="672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4592"/>
            <a:ext cx="2926080" cy="4572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19456" y="292608"/>
            <a:ext cx="329184" cy="32918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57B3FF"/>
                </a:solidFill>
                <a:latin typeface="Times New Roman" panose="02020603050405020304"/>
              </a:rPr>
              <a:t> </a:t>
            </a:r>
            <a:r>
              <a:rPr sz="2800" b="1" i="0">
                <a:solidFill>
                  <a:srgbClr val="57B3FF"/>
                </a:solidFill>
                <a:latin typeface="Times New Roman" panose="02020603050405020304"/>
              </a:rPr>
              <a:t>Motivation &amp; Related Work</a:t>
            </a:r>
            <a:endParaRPr sz="28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247120" cy="18288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888888"/>
                </a:solidFill>
                <a:latin typeface="Arial" panose="020B0604020202020204"/>
              </a:rPr>
              <a:t>Why does this problem matter?  What has already been done?</a:t>
            </a:r>
            <a:endParaRPr b="0" i="1">
              <a:solidFill>
                <a:srgbClr val="888888"/>
              </a:solidFill>
              <a:latin typeface="Arial" panose="020B060402020202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2920" y="6184265"/>
            <a:ext cx="11247120" cy="18288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275705"/>
            <a:ext cx="11247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Arial" panose="020B0604020202020204"/>
              </a:rPr>
              <a:t>None of these tools natively support self-evolution from mistakes — the gap LlamaIndex-Evolve fills.</a:t>
            </a:r>
            <a:endParaRPr sz="1600" b="1" i="0">
              <a:solidFill>
                <a:srgbClr val="1E3A5F"/>
              </a:solidFill>
              <a:latin typeface="Arial" panose="020B0604020202020204"/>
            </a:endParaRPr>
          </a:p>
        </p:txBody>
      </p:sp>
      <p:sp>
        <p:nvSpPr>
          <p:cNvPr id="83" name="TextBox 7"/>
          <p:cNvSpPr txBox="1"/>
          <p:nvPr/>
        </p:nvSpPr>
        <p:spPr>
          <a:xfrm>
            <a:off x="45720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Times New Roman" panose="02020603050405020304"/>
              </a:rPr>
              <a:t>The Problem</a:t>
            </a:r>
            <a:endParaRPr sz="20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457200" y="1627632"/>
            <a:ext cx="5303520" cy="13533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9" descr="icon_no_le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2224"/>
            <a:ext cx="475488" cy="475488"/>
          </a:xfrm>
          <a:prstGeom prst="rect">
            <a:avLst/>
          </a:prstGeom>
        </p:spPr>
      </p:pic>
      <p:sp>
        <p:nvSpPr>
          <p:cNvPr id="86" name="TextBox 10"/>
          <p:cNvSpPr txBox="1"/>
          <p:nvPr/>
        </p:nvSpPr>
        <p:spPr>
          <a:xfrm>
            <a:off x="1207007" y="1810512"/>
            <a:ext cx="4407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No Learning from Mistakes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87" name="TextBox 11"/>
          <p:cNvSpPr txBox="1"/>
          <p:nvPr/>
        </p:nvSpPr>
        <p:spPr>
          <a:xfrm>
            <a:off x="640080" y="2340864"/>
            <a:ext cx="49834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Errors repeat indefinitely — no correction loop in standard RAG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88" name="Rectangle 12"/>
          <p:cNvSpPr/>
          <p:nvPr/>
        </p:nvSpPr>
        <p:spPr>
          <a:xfrm>
            <a:off x="457200" y="3108960"/>
            <a:ext cx="5303520" cy="13533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13" descr="icon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73552"/>
            <a:ext cx="475488" cy="475488"/>
          </a:xfrm>
          <a:prstGeom prst="rect">
            <a:avLst/>
          </a:prstGeom>
        </p:spPr>
      </p:pic>
      <p:sp>
        <p:nvSpPr>
          <p:cNvPr id="90" name="TextBox 14"/>
          <p:cNvSpPr txBox="1"/>
          <p:nvPr/>
        </p:nvSpPr>
        <p:spPr>
          <a:xfrm>
            <a:off x="1207007" y="3291840"/>
            <a:ext cx="4407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Cost vs. Accuracy Trade-off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91" name="TextBox 15"/>
          <p:cNvSpPr txBox="1"/>
          <p:nvPr/>
        </p:nvSpPr>
        <p:spPr>
          <a:xfrm>
            <a:off x="640080" y="3822192"/>
            <a:ext cx="49834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Powerful models are expensive; lightweight models are error-prone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92" name="Rectangle 16"/>
          <p:cNvSpPr/>
          <p:nvPr/>
        </p:nvSpPr>
        <p:spPr>
          <a:xfrm>
            <a:off x="457200" y="4590288"/>
            <a:ext cx="5303520" cy="13533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17" descr="icon_amaz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54880"/>
            <a:ext cx="475488" cy="475488"/>
          </a:xfrm>
          <a:prstGeom prst="rect">
            <a:avLst/>
          </a:prstGeom>
        </p:spPr>
      </p:pic>
      <p:sp>
        <p:nvSpPr>
          <p:cNvPr id="94" name="TextBox 18"/>
          <p:cNvSpPr txBox="1"/>
          <p:nvPr/>
        </p:nvSpPr>
        <p:spPr>
          <a:xfrm>
            <a:off x="1207007" y="4773168"/>
            <a:ext cx="4407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Amazon 2026 Proves It Works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95" name="TextBox 19"/>
          <p:cNvSpPr txBox="1"/>
          <p:nvPr/>
        </p:nvSpPr>
        <p:spPr>
          <a:xfrm>
            <a:off x="640080" y="5303520"/>
            <a:ext cx="49834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Self-learning via multi-model disagreement detection at scale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96" name="TextBox 20"/>
          <p:cNvSpPr txBox="1"/>
          <p:nvPr/>
        </p:nvSpPr>
        <p:spPr>
          <a:xfrm>
            <a:off x="6446520" y="118872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Times New Roman" panose="02020603050405020304"/>
              </a:rPr>
              <a:t>4 GitHub Repos Analysed</a:t>
            </a:r>
            <a:endParaRPr sz="20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97" name="Rectangle 21"/>
          <p:cNvSpPr/>
          <p:nvPr/>
        </p:nvSpPr>
        <p:spPr>
          <a:xfrm>
            <a:off x="6446520" y="1627632"/>
            <a:ext cx="2240280" cy="14447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22" descr="icon_lla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792224"/>
            <a:ext cx="475488" cy="475488"/>
          </a:xfrm>
          <a:prstGeom prst="rect">
            <a:avLst/>
          </a:prstGeom>
        </p:spPr>
      </p:pic>
      <p:sp>
        <p:nvSpPr>
          <p:cNvPr id="99" name="TextBox 23"/>
          <p:cNvSpPr txBox="1"/>
          <p:nvPr/>
        </p:nvSpPr>
        <p:spPr>
          <a:xfrm>
            <a:off x="7196328" y="1810512"/>
            <a:ext cx="1344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LlamaIndex (core)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100" name="TextBox 24"/>
          <p:cNvSpPr txBox="1"/>
          <p:nvPr/>
        </p:nvSpPr>
        <p:spPr>
          <a:xfrm>
            <a:off x="6629400" y="2340864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Static index — no learning loop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101" name="Rectangle 25"/>
          <p:cNvSpPr/>
          <p:nvPr/>
        </p:nvSpPr>
        <p:spPr>
          <a:xfrm>
            <a:off x="8823960" y="1627632"/>
            <a:ext cx="2240280" cy="14447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26" descr="icon_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1792224"/>
            <a:ext cx="475488" cy="475488"/>
          </a:xfrm>
          <a:prstGeom prst="rect">
            <a:avLst/>
          </a:prstGeom>
        </p:spPr>
      </p:pic>
      <p:sp>
        <p:nvSpPr>
          <p:cNvPr id="103" name="TextBox 27"/>
          <p:cNvSpPr txBox="1"/>
          <p:nvPr/>
        </p:nvSpPr>
        <p:spPr>
          <a:xfrm>
            <a:off x="9573768" y="1810512"/>
            <a:ext cx="1344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7B3FF"/>
                </a:solidFill>
                <a:latin typeface="Times New Roman" panose="02020603050405020304"/>
              </a:rPr>
              <a:t>LangChain</a:t>
            </a:r>
            <a:endParaRPr sz="15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104" name="TextBox 28"/>
          <p:cNvSpPr txBox="1"/>
          <p:nvPr/>
        </p:nvSpPr>
        <p:spPr>
          <a:xfrm>
            <a:off x="9006840" y="2340864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Memory = conversation history only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105" name="Rectangle 29"/>
          <p:cNvSpPr/>
          <p:nvPr/>
        </p:nvSpPr>
        <p:spPr>
          <a:xfrm>
            <a:off x="6446520" y="3182112"/>
            <a:ext cx="2240280" cy="14447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30" descr="icon_chrom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346704"/>
            <a:ext cx="475488" cy="475488"/>
          </a:xfrm>
          <a:prstGeom prst="rect">
            <a:avLst/>
          </a:prstGeom>
        </p:spPr>
      </p:pic>
      <p:sp>
        <p:nvSpPr>
          <p:cNvPr id="107" name="TextBox 31"/>
          <p:cNvSpPr txBox="1"/>
          <p:nvPr/>
        </p:nvSpPr>
        <p:spPr>
          <a:xfrm>
            <a:off x="7196328" y="3364992"/>
            <a:ext cx="1344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ChromaDB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108" name="TextBox 32"/>
          <p:cNvSpPr txBox="1"/>
          <p:nvPr/>
        </p:nvSpPr>
        <p:spPr>
          <a:xfrm>
            <a:off x="6629400" y="3895344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Vector store — zero learning logic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109" name="Rectangle 33"/>
          <p:cNvSpPr/>
          <p:nvPr/>
        </p:nvSpPr>
        <p:spPr>
          <a:xfrm>
            <a:off x="8823960" y="3182112"/>
            <a:ext cx="2240280" cy="144475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34" descr="icon_ollam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3346704"/>
            <a:ext cx="475488" cy="475488"/>
          </a:xfrm>
          <a:prstGeom prst="rect">
            <a:avLst/>
          </a:prstGeom>
        </p:spPr>
      </p:pic>
      <p:sp>
        <p:nvSpPr>
          <p:cNvPr id="111" name="TextBox 35"/>
          <p:cNvSpPr txBox="1"/>
          <p:nvPr/>
        </p:nvSpPr>
        <p:spPr>
          <a:xfrm>
            <a:off x="9573768" y="3364992"/>
            <a:ext cx="1344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7B3FF"/>
                </a:solidFill>
                <a:latin typeface="Times New Roman" panose="02020603050405020304"/>
              </a:rPr>
              <a:t>Ollama</a:t>
            </a:r>
            <a:endParaRPr sz="15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112" name="TextBox 36"/>
          <p:cNvSpPr txBox="1"/>
          <p:nvPr/>
        </p:nvSpPr>
        <p:spPr>
          <a:xfrm>
            <a:off x="9006840" y="3895344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Runtime only — no self-improvement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4592"/>
            <a:ext cx="2926080" cy="4572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19456" y="292608"/>
            <a:ext cx="329184" cy="32918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57B3FF"/>
                </a:solidFill>
                <a:latin typeface="Times New Roman" panose="02020603050405020304"/>
              </a:rPr>
              <a:t> </a:t>
            </a:r>
            <a:r>
              <a:rPr sz="2800" b="1" i="0">
                <a:solidFill>
                  <a:srgbClr val="57B3FF"/>
                </a:solidFill>
                <a:latin typeface="Times New Roman" panose="02020603050405020304"/>
              </a:rPr>
              <a:t>Contribution</a:t>
            </a:r>
            <a:endParaRPr sz="28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247120" cy="18288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888888"/>
                </a:solidFill>
                <a:latin typeface="Arial" panose="020B0604020202020204"/>
              </a:rPr>
              <a:t>Four concrete extensions to LlamaIndex's default static behaviour</a:t>
            </a:r>
            <a:endParaRPr b="0" i="1">
              <a:solidFill>
                <a:srgbClr val="888888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762635" y="1426845"/>
            <a:ext cx="5207930" cy="16936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62635" y="1494590"/>
            <a:ext cx="52079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Times New Roman" panose="02020603050405020304"/>
              </a:rPr>
              <a:t>①  Multi-Worker Parallel Querying</a:t>
            </a:r>
            <a:endParaRPr sz="16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62635" y="2080759"/>
            <a:ext cx="52079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444444"/>
                </a:solidFill>
                <a:latin typeface="Arial" panose="020B0604020202020204"/>
              </a:rPr>
              <a:t>3 Qwen models (turbo / plus / long) with distinct classification biases independently answer each query, surfacing genuine disagreements on semantically ambiguous products.</a:t>
            </a:r>
            <a:endParaRPr b="0" i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6224610" y="1426845"/>
            <a:ext cx="5207930" cy="16936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6224610" y="1494590"/>
            <a:ext cx="52079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Times New Roman" panose="02020603050405020304"/>
              </a:rPr>
              <a:t>②  Disagreement-Driven Supervisor</a:t>
            </a:r>
            <a:endParaRPr sz="16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224610" y="2077584"/>
            <a:ext cx="52079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444444"/>
                </a:solidFill>
                <a:latin typeface="Arial" panose="020B0604020202020204"/>
              </a:rPr>
              <a:t>When cosine similarity between worker answers falls below 0.85, Qwen-max analyses the conflict and generates a structured JSON experience: {reason, correct_answer, hint}.</a:t>
            </a:r>
            <a:endParaRPr b="0" i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762635" y="3628571"/>
            <a:ext cx="5207930" cy="16936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762635" y="3696317"/>
            <a:ext cx="52079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Times New Roman" panose="02020603050405020304"/>
              </a:rPr>
              <a:t>③  Dual LlamaIndex Index Architecture</a:t>
            </a:r>
            <a:endParaRPr sz="16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762635" y="4226605"/>
            <a:ext cx="52079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444444"/>
                </a:solidFill>
                <a:latin typeface="Arial" panose="020B0604020202020204"/>
              </a:rPr>
              <a:t>Separates a static product knowledge base (built once) from a dynamic experience knowledge base (grows via runtime insert()) — extending LlamaIndex's single-index paradigm.</a:t>
            </a:r>
            <a:endParaRPr b="0" i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>
            <p:custDataLst>
              <p:tags r:id="rId11"/>
            </p:custDataLst>
          </p:nvPr>
        </p:nvSpPr>
        <p:spPr>
          <a:xfrm>
            <a:off x="6224610" y="3628571"/>
            <a:ext cx="5207930" cy="16936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224610" y="3696317"/>
            <a:ext cx="52079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Times New Roman" panose="02020603050405020304"/>
              </a:rPr>
              <a:t>④  Experience Injection Loop</a:t>
            </a:r>
            <a:endParaRPr sz="16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18" name="TextBox 17"/>
          <p:cNvSpPr txBox="1"/>
          <p:nvPr>
            <p:custDataLst>
              <p:tags r:id="rId13"/>
            </p:custDataLst>
          </p:nvPr>
        </p:nvSpPr>
        <p:spPr>
          <a:xfrm>
            <a:off x="6224610" y="4268515"/>
            <a:ext cx="52079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444444"/>
                </a:solidFill>
                <a:latin typeface="Arial" panose="020B0604020202020204"/>
              </a:rPr>
              <a:t>LlamaIndex QueryEngine retrieves relevant past hints and injects them into worker prompts, repurposing QueryEngine as a context supplier rather than a final-answer generator.</a:t>
            </a:r>
            <a:endParaRPr b="0" i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053328"/>
            <a:ext cx="1124712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144768"/>
            <a:ext cx="11247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57B3FF"/>
                </a:solidFill>
                <a:latin typeface="Arial" panose="020B0604020202020204"/>
              </a:rPr>
              <a:t>→  Transforms a static knowledge base into a continuously evolving intelligent system</a:t>
            </a:r>
            <a:endParaRPr sz="1600" b="1" i="1">
              <a:solidFill>
                <a:srgbClr val="57B3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4592"/>
            <a:ext cx="2926080" cy="4572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19456" y="292608"/>
            <a:ext cx="329184" cy="32918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57B3FF"/>
                </a:solidFill>
                <a:latin typeface="Times New Roman" panose="02020603050405020304"/>
              </a:rPr>
              <a:t> </a:t>
            </a:r>
            <a:r>
              <a:rPr sz="2800" b="1" i="0">
                <a:solidFill>
                  <a:srgbClr val="57B3FF"/>
                </a:solidFill>
                <a:latin typeface="Times New Roman" panose="02020603050405020304"/>
              </a:rPr>
              <a:t>Methodology</a:t>
            </a:r>
            <a:endParaRPr sz="28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247120" cy="18288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888888"/>
                </a:solidFill>
                <a:latin typeface="Arial" panose="020B0604020202020204"/>
              </a:rPr>
              <a:t>Three-layer architecture with a closed learning loop</a:t>
            </a:r>
            <a:endParaRPr b="0" i="1">
              <a:solidFill>
                <a:srgbClr val="888888"/>
              </a:solidFill>
              <a:latin typeface="Arial" panose="020B0604020202020204"/>
            </a:endParaRPr>
          </a:p>
        </p:txBody>
      </p:sp>
      <p:sp>
        <p:nvSpPr>
          <p:cNvPr id="31" name="Rectangle 7"/>
          <p:cNvSpPr/>
          <p:nvPr/>
        </p:nvSpPr>
        <p:spPr>
          <a:xfrm>
            <a:off x="522097" y="1275207"/>
            <a:ext cx="2121408" cy="15727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8" descr="icon_no_le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769" y="1339215"/>
            <a:ext cx="475488" cy="475488"/>
          </a:xfrm>
          <a:prstGeom prst="rect">
            <a:avLst/>
          </a:prstGeom>
        </p:spPr>
      </p:pic>
      <p:sp>
        <p:nvSpPr>
          <p:cNvPr id="33" name="TextBox 9"/>
          <p:cNvSpPr txBox="1"/>
          <p:nvPr/>
        </p:nvSpPr>
        <p:spPr>
          <a:xfrm>
            <a:off x="595249" y="1823847"/>
            <a:ext cx="1975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User
Query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595249" y="2354199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EFF"/>
                </a:solidFill>
                <a:latin typeface="Arial" panose="020B0604020202020204"/>
              </a:rPr>
              <a:t>Product text</a:t>
            </a:r>
            <a:endParaRPr sz="1100" b="0" i="0">
              <a:solidFill>
                <a:srgbClr val="D6EEFF"/>
              </a:solidFill>
              <a:latin typeface="Arial" panose="020B0604020202020204"/>
            </a:endParaRPr>
          </a:p>
        </p:txBody>
      </p:sp>
      <p:sp>
        <p:nvSpPr>
          <p:cNvPr id="35" name="Rectangle 11"/>
          <p:cNvSpPr/>
          <p:nvPr/>
        </p:nvSpPr>
        <p:spPr>
          <a:xfrm>
            <a:off x="2808097" y="1275207"/>
            <a:ext cx="2121408" cy="15727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12" descr="icon_l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769" y="1339215"/>
            <a:ext cx="475488" cy="475488"/>
          </a:xfrm>
          <a:prstGeom prst="rect">
            <a:avLst/>
          </a:prstGeom>
        </p:spPr>
      </p:pic>
      <p:sp>
        <p:nvSpPr>
          <p:cNvPr id="37" name="TextBox 13"/>
          <p:cNvSpPr txBox="1"/>
          <p:nvPr/>
        </p:nvSpPr>
        <p:spPr>
          <a:xfrm>
            <a:off x="2881249" y="1823847"/>
            <a:ext cx="1975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LlamaIndex
RAG Fetch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8" name="TextBox 14"/>
          <p:cNvSpPr txBox="1"/>
          <p:nvPr/>
        </p:nvSpPr>
        <p:spPr>
          <a:xfrm>
            <a:off x="2881249" y="2354199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EFF"/>
                </a:solidFill>
                <a:latin typeface="Arial" panose="020B0604020202020204"/>
              </a:rPr>
              <a:t>Product + Exp index</a:t>
            </a:r>
            <a:endParaRPr sz="1100" b="0" i="0">
              <a:solidFill>
                <a:srgbClr val="D6EEFF"/>
              </a:solidFill>
              <a:latin typeface="Arial" panose="020B0604020202020204"/>
            </a:endParaRPr>
          </a:p>
        </p:txBody>
      </p:sp>
      <p:sp>
        <p:nvSpPr>
          <p:cNvPr id="39" name="Rectangle 15"/>
          <p:cNvSpPr/>
          <p:nvPr/>
        </p:nvSpPr>
        <p:spPr>
          <a:xfrm>
            <a:off x="5094097" y="1275207"/>
            <a:ext cx="2121408" cy="15727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16" descr="icon_work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769" y="1339215"/>
            <a:ext cx="475488" cy="475488"/>
          </a:xfrm>
          <a:prstGeom prst="rect">
            <a:avLst/>
          </a:prstGeom>
        </p:spPr>
      </p:pic>
      <p:sp>
        <p:nvSpPr>
          <p:cNvPr id="41" name="TextBox 17"/>
          <p:cNvSpPr txBox="1"/>
          <p:nvPr/>
        </p:nvSpPr>
        <p:spPr>
          <a:xfrm>
            <a:off x="5167249" y="1823847"/>
            <a:ext cx="1975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Worker
Layer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2" name="TextBox 18"/>
          <p:cNvSpPr txBox="1"/>
          <p:nvPr/>
        </p:nvSpPr>
        <p:spPr>
          <a:xfrm>
            <a:off x="5167249" y="2354199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EFF"/>
                </a:solidFill>
                <a:latin typeface="Arial" panose="020B0604020202020204"/>
              </a:rPr>
              <a:t>qwen-turbo/plus/long</a:t>
            </a:r>
            <a:endParaRPr sz="1100" b="0" i="0">
              <a:solidFill>
                <a:srgbClr val="D6EEFF"/>
              </a:solidFill>
              <a:latin typeface="Arial" panose="020B0604020202020204"/>
            </a:endParaRPr>
          </a:p>
        </p:txBody>
      </p:sp>
      <p:sp>
        <p:nvSpPr>
          <p:cNvPr id="43" name="Rectangle 19"/>
          <p:cNvSpPr/>
          <p:nvPr/>
        </p:nvSpPr>
        <p:spPr>
          <a:xfrm>
            <a:off x="7380097" y="1275207"/>
            <a:ext cx="2121408" cy="15727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20" descr="icon_chro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769" y="1339215"/>
            <a:ext cx="475488" cy="475488"/>
          </a:xfrm>
          <a:prstGeom prst="rect">
            <a:avLst/>
          </a:prstGeom>
        </p:spPr>
      </p:pic>
      <p:sp>
        <p:nvSpPr>
          <p:cNvPr id="45" name="TextBox 21"/>
          <p:cNvSpPr txBox="1"/>
          <p:nvPr/>
        </p:nvSpPr>
        <p:spPr>
          <a:xfrm>
            <a:off x="7453249" y="1823847"/>
            <a:ext cx="1975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Disagree
Detect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6" name="TextBox 22"/>
          <p:cNvSpPr txBox="1"/>
          <p:nvPr/>
        </p:nvSpPr>
        <p:spPr>
          <a:xfrm>
            <a:off x="7453249" y="2354199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EFF"/>
                </a:solidFill>
                <a:latin typeface="Arial" panose="020B0604020202020204"/>
              </a:rPr>
              <a:t>Cosine sim &lt; 0.85</a:t>
            </a:r>
            <a:endParaRPr sz="1100" b="0" i="0">
              <a:solidFill>
                <a:srgbClr val="D6EEFF"/>
              </a:solidFill>
              <a:latin typeface="Arial" panose="020B0604020202020204"/>
            </a:endParaRPr>
          </a:p>
        </p:txBody>
      </p:sp>
      <p:sp>
        <p:nvSpPr>
          <p:cNvPr id="47" name="Rectangle 23"/>
          <p:cNvSpPr/>
          <p:nvPr/>
        </p:nvSpPr>
        <p:spPr>
          <a:xfrm>
            <a:off x="9666097" y="1275207"/>
            <a:ext cx="2121408" cy="15727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24" descr="icon_su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0769" y="1339215"/>
            <a:ext cx="475488" cy="475488"/>
          </a:xfrm>
          <a:prstGeom prst="rect">
            <a:avLst/>
          </a:prstGeom>
        </p:spPr>
      </p:pic>
      <p:sp>
        <p:nvSpPr>
          <p:cNvPr id="49" name="TextBox 25"/>
          <p:cNvSpPr txBox="1"/>
          <p:nvPr/>
        </p:nvSpPr>
        <p:spPr>
          <a:xfrm>
            <a:off x="9739249" y="1823847"/>
            <a:ext cx="1975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Supervisor
+ Store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0" name="TextBox 26"/>
          <p:cNvSpPr txBox="1"/>
          <p:nvPr/>
        </p:nvSpPr>
        <p:spPr>
          <a:xfrm>
            <a:off x="9739249" y="2354199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EFF"/>
                </a:solidFill>
                <a:latin typeface="Arial" panose="020B0604020202020204"/>
              </a:rPr>
              <a:t>Qwen-max → insert()</a:t>
            </a:r>
            <a:endParaRPr sz="1100" b="0" i="0">
              <a:solidFill>
                <a:srgbClr val="D6EEFF"/>
              </a:solidFill>
              <a:latin typeface="Arial" panose="020B0604020202020204"/>
            </a:endParaRPr>
          </a:p>
        </p:txBody>
      </p:sp>
      <p:sp>
        <p:nvSpPr>
          <p:cNvPr id="51" name="TextBox 27"/>
          <p:cNvSpPr txBox="1"/>
          <p:nvPr/>
        </p:nvSpPr>
        <p:spPr>
          <a:xfrm>
            <a:off x="2643505" y="1768983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7B3FF"/>
                </a:solidFill>
                <a:latin typeface="Arial" panose="020B0604020202020204"/>
              </a:rPr>
              <a:t>→</a:t>
            </a:r>
            <a:endParaRPr sz="2200" b="1" i="0">
              <a:solidFill>
                <a:srgbClr val="57B3FF"/>
              </a:solidFill>
              <a:latin typeface="Arial" panose="020B0604020202020204"/>
            </a:endParaRPr>
          </a:p>
        </p:txBody>
      </p:sp>
      <p:sp>
        <p:nvSpPr>
          <p:cNvPr id="52" name="TextBox 28"/>
          <p:cNvSpPr txBox="1"/>
          <p:nvPr/>
        </p:nvSpPr>
        <p:spPr>
          <a:xfrm>
            <a:off x="4929505" y="1768983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7B3FF"/>
                </a:solidFill>
                <a:latin typeface="Arial" panose="020B0604020202020204"/>
              </a:rPr>
              <a:t>→</a:t>
            </a:r>
            <a:endParaRPr sz="2200" b="1" i="0">
              <a:solidFill>
                <a:srgbClr val="57B3FF"/>
              </a:solidFill>
              <a:latin typeface="Arial" panose="020B0604020202020204"/>
            </a:endParaRPr>
          </a:p>
        </p:txBody>
      </p:sp>
      <p:sp>
        <p:nvSpPr>
          <p:cNvPr id="53" name="TextBox 29"/>
          <p:cNvSpPr txBox="1"/>
          <p:nvPr/>
        </p:nvSpPr>
        <p:spPr>
          <a:xfrm>
            <a:off x="7215505" y="1768983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7B3FF"/>
                </a:solidFill>
                <a:latin typeface="Arial" panose="020B0604020202020204"/>
              </a:rPr>
              <a:t>→</a:t>
            </a:r>
            <a:endParaRPr sz="2200" b="1" i="0">
              <a:solidFill>
                <a:srgbClr val="57B3FF"/>
              </a:solidFill>
              <a:latin typeface="Arial" panose="020B0604020202020204"/>
            </a:endParaRPr>
          </a:p>
        </p:txBody>
      </p:sp>
      <p:sp>
        <p:nvSpPr>
          <p:cNvPr id="54" name="TextBox 30"/>
          <p:cNvSpPr txBox="1"/>
          <p:nvPr/>
        </p:nvSpPr>
        <p:spPr>
          <a:xfrm>
            <a:off x="9501505" y="1768983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7B3FF"/>
                </a:solidFill>
                <a:latin typeface="Arial" panose="020B0604020202020204"/>
              </a:rPr>
              <a:t>→</a:t>
            </a:r>
            <a:endParaRPr sz="2200" b="1" i="0">
              <a:solidFill>
                <a:srgbClr val="57B3FF"/>
              </a:solidFill>
              <a:latin typeface="Arial" panose="020B0604020202020204"/>
            </a:endParaRPr>
          </a:p>
        </p:txBody>
      </p:sp>
      <p:sp>
        <p:nvSpPr>
          <p:cNvPr id="55" name="Rectangle 31"/>
          <p:cNvSpPr/>
          <p:nvPr/>
        </p:nvSpPr>
        <p:spPr>
          <a:xfrm>
            <a:off x="521970" y="2985135"/>
            <a:ext cx="11265535" cy="384175"/>
          </a:xfrm>
          <a:prstGeom prst="rect">
            <a:avLst/>
          </a:prstGeom>
          <a:solidFill>
            <a:srgbClr val="D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32"/>
          <p:cNvSpPr txBox="1"/>
          <p:nvPr/>
        </p:nvSpPr>
        <p:spPr>
          <a:xfrm>
            <a:off x="677545" y="3030855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 panose="020B0604020202020204"/>
              </a:rPr>
              <a:t>↩  Experiences immediately available for next query via LlamaIndex dynamic insert() + QueryEngine retrieval</a:t>
            </a:r>
            <a:endParaRPr sz="1300" b="1" i="0">
              <a:solidFill>
                <a:srgbClr val="1E3A5F"/>
              </a:solidFill>
              <a:latin typeface="Arial" panose="020B0604020202020204"/>
            </a:endParaRPr>
          </a:p>
        </p:txBody>
      </p:sp>
      <p:sp>
        <p:nvSpPr>
          <p:cNvPr id="57" name="TextBox 33"/>
          <p:cNvSpPr txBox="1"/>
          <p:nvPr/>
        </p:nvSpPr>
        <p:spPr>
          <a:xfrm>
            <a:off x="464185" y="3506343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Times New Roman" panose="02020603050405020304"/>
              </a:rPr>
              <a:t>Key Design Decisions</a:t>
            </a:r>
            <a:endParaRPr sz="22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58" name="Rectangle 34"/>
          <p:cNvSpPr/>
          <p:nvPr/>
        </p:nvSpPr>
        <p:spPr>
          <a:xfrm>
            <a:off x="464185" y="4018280"/>
            <a:ext cx="5467350" cy="11156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35"/>
          <p:cNvSpPr txBox="1"/>
          <p:nvPr/>
        </p:nvSpPr>
        <p:spPr>
          <a:xfrm>
            <a:off x="628777" y="410984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Workers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60" name="TextBox 36"/>
          <p:cNvSpPr txBox="1"/>
          <p:nvPr/>
        </p:nvSpPr>
        <p:spPr>
          <a:xfrm>
            <a:off x="628777" y="4457319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3 distinct Qwen models with hard-coded biases simulate different lightweight model knowledge boundaries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61" name="Rectangle 37"/>
          <p:cNvSpPr/>
          <p:nvPr/>
        </p:nvSpPr>
        <p:spPr>
          <a:xfrm>
            <a:off x="6362065" y="4018280"/>
            <a:ext cx="5426075" cy="11156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38"/>
          <p:cNvSpPr txBox="1"/>
          <p:nvPr/>
        </p:nvSpPr>
        <p:spPr>
          <a:xfrm>
            <a:off x="6526657" y="410984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Threshold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63" name="TextBox 39"/>
          <p:cNvSpPr txBox="1"/>
          <p:nvPr/>
        </p:nvSpPr>
        <p:spPr>
          <a:xfrm>
            <a:off x="6526657" y="4457319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Cosine similarity &lt; 0.85 using sentence-transformers all-MiniLM-L6-v2 embeddings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64" name="Rectangle 40"/>
          <p:cNvSpPr/>
          <p:nvPr/>
        </p:nvSpPr>
        <p:spPr>
          <a:xfrm>
            <a:off x="464185" y="5280025"/>
            <a:ext cx="5467350" cy="11156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41"/>
          <p:cNvSpPr txBox="1"/>
          <p:nvPr/>
        </p:nvSpPr>
        <p:spPr>
          <a:xfrm>
            <a:off x="628777" y="53717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Dual Index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66" name="TextBox 42"/>
          <p:cNvSpPr txBox="1"/>
          <p:nvPr/>
        </p:nvSpPr>
        <p:spPr>
          <a:xfrm>
            <a:off x="628777" y="5719191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Static product VectorStoreIndex  +  dynamic experience index via ChromaVectorStore (runtime insert)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  <p:sp>
        <p:nvSpPr>
          <p:cNvPr id="67" name="Rectangle 43"/>
          <p:cNvSpPr/>
          <p:nvPr/>
        </p:nvSpPr>
        <p:spPr>
          <a:xfrm>
            <a:off x="6362065" y="5280025"/>
            <a:ext cx="5426075" cy="11156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44"/>
          <p:cNvSpPr txBox="1"/>
          <p:nvPr/>
        </p:nvSpPr>
        <p:spPr>
          <a:xfrm>
            <a:off x="6526657" y="53717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Times New Roman" panose="02020603050405020304"/>
              </a:rPr>
              <a:t>Metadata</a:t>
            </a:r>
            <a:endParaRPr sz="15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69" name="TextBox 45"/>
          <p:cNvSpPr txBox="1"/>
          <p:nvPr/>
        </p:nvSpPr>
        <p:spPr>
          <a:xfrm>
            <a:off x="6526657" y="5719191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56"/>
                </a:solidFill>
                <a:latin typeface="Arial" panose="020B0604020202020204"/>
              </a:rPr>
              <a:t>Bypass LlamaIndex synthesis layer — extract hint/answer directly from source_nodes metadata</a:t>
            </a:r>
            <a:endParaRPr sz="1200" b="0" i="0">
              <a:solidFill>
                <a:srgbClr val="3D4A5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4592"/>
            <a:ext cx="2926080" cy="4572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19456" y="292608"/>
            <a:ext cx="329184" cy="32918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57B3FF"/>
                </a:solidFill>
                <a:latin typeface="Times New Roman" panose="02020603050405020304"/>
              </a:rPr>
              <a:t> </a:t>
            </a:r>
            <a:r>
              <a:rPr sz="2800" b="1" i="0">
                <a:solidFill>
                  <a:srgbClr val="57B3FF"/>
                </a:solidFill>
                <a:latin typeface="Times New Roman" panose="02020603050405020304"/>
              </a:rPr>
              <a:t>Results</a:t>
            </a:r>
            <a:endParaRPr sz="28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247120" cy="18288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888888"/>
                </a:solidFill>
                <a:latin typeface="Arial" panose="020B0604020202020204"/>
              </a:rPr>
              <a:t>Real experiment: 60 products · 4 rounds · Aliyun Bailian API</a:t>
            </a:r>
            <a:endParaRPr b="0" i="1">
              <a:solidFill>
                <a:srgbClr val="888888"/>
              </a:solidFill>
              <a:latin typeface="Arial" panose="020B0604020202020204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347472" y="1372997"/>
            <a:ext cx="2651760" cy="1353312"/>
          </a:xfrm>
          <a:prstGeom prst="rect">
            <a:avLst/>
          </a:prstGeom>
          <a:solidFill>
            <a:srgbClr val="D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8"/>
          <p:cNvSpPr txBox="1"/>
          <p:nvPr/>
        </p:nvSpPr>
        <p:spPr>
          <a:xfrm>
            <a:off x="347472" y="1464437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3A5F"/>
                </a:solidFill>
                <a:latin typeface="Times New Roman" panose="02020603050405020304"/>
              </a:rPr>
              <a:t>100%</a:t>
            </a:r>
            <a:endParaRPr sz="40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25" name="TextBox 9"/>
          <p:cNvSpPr txBox="1"/>
          <p:nvPr/>
        </p:nvSpPr>
        <p:spPr>
          <a:xfrm>
            <a:off x="347472" y="2122805"/>
            <a:ext cx="26517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6A3"/>
                </a:solidFill>
                <a:latin typeface="Arial" panose="020B0604020202020204"/>
              </a:rPr>
              <a:t>Accuracy
R1 – R</a:t>
            </a:r>
            <a:r>
              <a:rPr lang="en-US" sz="1300" b="0" i="0">
                <a:solidFill>
                  <a:srgbClr val="8A96A3"/>
                </a:solidFill>
                <a:latin typeface="Arial" panose="020B0604020202020204"/>
              </a:rPr>
              <a:t>4</a:t>
            </a:r>
            <a:endParaRPr lang="en-US" sz="1300" b="0" i="0">
              <a:solidFill>
                <a:srgbClr val="8A96A3"/>
              </a:solidFill>
              <a:latin typeface="Arial" panose="020B0604020202020204"/>
            </a:endParaRPr>
          </a:p>
        </p:txBody>
      </p:sp>
      <p:sp>
        <p:nvSpPr>
          <p:cNvPr id="26" name="Rectangle 10"/>
          <p:cNvSpPr/>
          <p:nvPr/>
        </p:nvSpPr>
        <p:spPr>
          <a:xfrm>
            <a:off x="3200400" y="1372997"/>
            <a:ext cx="2651760" cy="13533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11"/>
          <p:cNvSpPr txBox="1"/>
          <p:nvPr/>
        </p:nvSpPr>
        <p:spPr>
          <a:xfrm>
            <a:off x="3200400" y="1464437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7B3FF"/>
                </a:solidFill>
                <a:latin typeface="Times New Roman" panose="02020603050405020304"/>
              </a:rPr>
              <a:t>6 / 6</a:t>
            </a:r>
            <a:endParaRPr sz="40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28" name="TextBox 12"/>
          <p:cNvSpPr txBox="1"/>
          <p:nvPr/>
        </p:nvSpPr>
        <p:spPr>
          <a:xfrm>
            <a:off x="3200400" y="2122805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6A3"/>
                </a:solidFill>
                <a:latin typeface="Arial" panose="020B0604020202020204"/>
              </a:rPr>
              <a:t>Supervisor
resolutions</a:t>
            </a:r>
            <a:endParaRPr sz="1300" b="0" i="0">
              <a:solidFill>
                <a:srgbClr val="8A96A3"/>
              </a:solidFill>
              <a:latin typeface="Arial" panose="020B0604020202020204"/>
            </a:endParaRPr>
          </a:p>
        </p:txBody>
      </p:sp>
      <p:sp>
        <p:nvSpPr>
          <p:cNvPr id="29" name="Rectangle 13"/>
          <p:cNvSpPr/>
          <p:nvPr/>
        </p:nvSpPr>
        <p:spPr>
          <a:xfrm>
            <a:off x="6053328" y="1372997"/>
            <a:ext cx="2651760" cy="1353312"/>
          </a:xfrm>
          <a:prstGeom prst="rect">
            <a:avLst/>
          </a:prstGeom>
          <a:solidFill>
            <a:srgbClr val="D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14"/>
          <p:cNvSpPr txBox="1"/>
          <p:nvPr/>
        </p:nvSpPr>
        <p:spPr>
          <a:xfrm>
            <a:off x="6053328" y="1464437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3A5F"/>
                </a:solidFill>
                <a:latin typeface="Times New Roman" panose="02020603050405020304"/>
              </a:rPr>
              <a:t>0→20%</a:t>
            </a:r>
            <a:endParaRPr sz="40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31" name="TextBox 15"/>
          <p:cNvSpPr txBox="1"/>
          <p:nvPr/>
        </p:nvSpPr>
        <p:spPr>
          <a:xfrm>
            <a:off x="6053328" y="2122805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6A3"/>
                </a:solidFill>
                <a:latin typeface="Arial" panose="020B0604020202020204"/>
              </a:rPr>
              <a:t>Disagreement rate
R1 → R4</a:t>
            </a:r>
            <a:endParaRPr sz="1300" b="0" i="0">
              <a:solidFill>
                <a:srgbClr val="8A96A3"/>
              </a:solidFill>
              <a:latin typeface="Arial" panose="020B0604020202020204"/>
            </a:endParaRPr>
          </a:p>
        </p:txBody>
      </p:sp>
      <p:sp>
        <p:nvSpPr>
          <p:cNvPr id="32" name="Rectangle 16"/>
          <p:cNvSpPr/>
          <p:nvPr/>
        </p:nvSpPr>
        <p:spPr>
          <a:xfrm>
            <a:off x="8906256" y="1372997"/>
            <a:ext cx="2651760" cy="13533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17"/>
          <p:cNvSpPr txBox="1"/>
          <p:nvPr/>
        </p:nvSpPr>
        <p:spPr>
          <a:xfrm>
            <a:off x="8906256" y="1464437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7B3FF"/>
                </a:solidFill>
                <a:latin typeface="Times New Roman" panose="02020603050405020304"/>
              </a:rPr>
              <a:t>10</a:t>
            </a:r>
            <a:endParaRPr sz="40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34" name="TextBox 18"/>
          <p:cNvSpPr txBox="1"/>
          <p:nvPr/>
        </p:nvSpPr>
        <p:spPr>
          <a:xfrm>
            <a:off x="8906256" y="2122805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6A3"/>
                </a:solidFill>
                <a:latin typeface="Arial" panose="020B0604020202020204"/>
              </a:rPr>
              <a:t>Experiences in
LlamaIndex KB</a:t>
            </a:r>
            <a:endParaRPr sz="1300" b="0" i="0">
              <a:solidFill>
                <a:srgbClr val="8A96A3"/>
              </a:solidFill>
              <a:latin typeface="Arial" panose="020B0604020202020204"/>
            </a:endParaRPr>
          </a:p>
        </p:txBody>
      </p:sp>
      <p:sp>
        <p:nvSpPr>
          <p:cNvPr id="37" name="TextBox 21"/>
          <p:cNvSpPr txBox="1"/>
          <p:nvPr/>
        </p:nvSpPr>
        <p:spPr>
          <a:xfrm>
            <a:off x="8485632" y="3037205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chemeClr val="tx2">
                    <a:lumMod val="10000"/>
                  </a:schemeClr>
                </a:solidFill>
                <a:latin typeface="Times New Roman" panose="02020603050405020304"/>
              </a:rPr>
              <a:t>Key Findings</a:t>
            </a:r>
            <a:endParaRPr sz="1800" b="1" i="0">
              <a:solidFill>
                <a:schemeClr val="tx2">
                  <a:lumMod val="10000"/>
                </a:schemeClr>
              </a:solidFill>
              <a:latin typeface="Times New Roman" panose="02020603050405020304"/>
            </a:endParaRPr>
          </a:p>
        </p:txBody>
      </p:sp>
      <p:sp>
        <p:nvSpPr>
          <p:cNvPr id="38" name="TextBox 22"/>
          <p:cNvSpPr txBox="1"/>
          <p:nvPr/>
        </p:nvSpPr>
        <p:spPr>
          <a:xfrm>
            <a:off x="8430895" y="3512820"/>
            <a:ext cx="3437890" cy="289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chemeClr val="tx2">
                    <a:lumMod val="10000"/>
                  </a:schemeClr>
                </a:solidFill>
                <a:sym typeface="+mn-ea"/>
              </a:rPr>
              <a:t>▸  100% accuracy across all 4 rounds — Supervisor resolved every disagreement</a:t>
            </a:r>
            <a:endParaRPr sz="1300" b="1">
              <a:solidFill>
                <a:schemeClr val="tx2">
                  <a:lumMod val="10000"/>
                </a:schemeClr>
              </a:solidFill>
              <a:latin typeface="Arial" panose="020B0604020202020204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chemeClr val="tx2">
                    <a:lumMod val="10000"/>
                  </a:schemeClr>
                </a:solidFill>
                <a:sym typeface="+mn-ea"/>
              </a:rPr>
              <a:t>▸  Disagreement rate rises with ambiguity: 6.7% → 0% → 13.3% → 20%</a:t>
            </a:r>
            <a:endParaRPr sz="1300" b="1">
              <a:solidFill>
                <a:schemeClr val="tx2">
                  <a:lumMod val="10000"/>
                </a:schemeClr>
              </a:solidFill>
              <a:latin typeface="Arial" panose="020B0604020202020204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chemeClr val="tx2">
                    <a:lumMod val="10000"/>
                  </a:schemeClr>
                </a:solidFill>
                <a:sym typeface="+mn-ea"/>
              </a:rPr>
              <a:t>▸  6 real disagreements detected and correctly resolved</a:t>
            </a:r>
            <a:endParaRPr sz="1300" b="1">
              <a:solidFill>
                <a:schemeClr val="tx2">
                  <a:lumMod val="10000"/>
                </a:schemeClr>
              </a:solidFill>
              <a:latin typeface="Arial" panose="020B0604020202020204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chemeClr val="tx2">
                    <a:lumMod val="10000"/>
                  </a:schemeClr>
                </a:solidFill>
                <a:sym typeface="+mn-ea"/>
              </a:rPr>
              <a:t>▸  Experience hints injected from Round 1 onward (📚💡)</a:t>
            </a:r>
            <a:endParaRPr sz="1300" b="1">
              <a:solidFill>
                <a:schemeClr val="tx2">
                  <a:lumMod val="10000"/>
                </a:schemeClr>
              </a:solidFill>
              <a:latin typeface="Arial" panose="020B0604020202020204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1">
                <a:solidFill>
                  <a:schemeClr val="tx2">
                    <a:lumMod val="10000"/>
                  </a:schemeClr>
                </a:solidFill>
                <a:sym typeface="+mn-ea"/>
              </a:rPr>
              <a:t>▸  Hardest: sport-tech boundary (jump rope p52, smart band p53)</a:t>
            </a:r>
            <a:endParaRPr sz="1300" b="1">
              <a:solidFill>
                <a:schemeClr val="tx2">
                  <a:lumMod val="10000"/>
                </a:schemeClr>
              </a:solidFill>
              <a:latin typeface="Arial" panose="020B0604020202020204"/>
              <a:sym typeface="+mn-ea"/>
            </a:endParaRPr>
          </a:p>
        </p:txBody>
      </p:sp>
      <p:pic>
        <p:nvPicPr>
          <p:cNvPr id="40" name="Picture 19" descr="real_experimen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934462"/>
            <a:ext cx="777240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4592"/>
            <a:ext cx="2926080" cy="4572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19456" y="292608"/>
            <a:ext cx="329184" cy="32918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57B3FF"/>
                </a:solidFill>
                <a:latin typeface="Times New Roman" panose="02020603050405020304"/>
              </a:rPr>
              <a:t> </a:t>
            </a:r>
            <a:r>
              <a:rPr sz="2800" b="1" i="0">
                <a:solidFill>
                  <a:srgbClr val="57B3FF"/>
                </a:solidFill>
                <a:latin typeface="Times New Roman" panose="02020603050405020304"/>
              </a:rPr>
              <a:t>Conclusion &amp; Future Work</a:t>
            </a:r>
            <a:endParaRPr sz="2800" b="1" i="0">
              <a:solidFill>
                <a:srgbClr val="57B3FF"/>
              </a:solidFill>
              <a:latin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247120" cy="18288"/>
          </a:xfrm>
          <a:prstGeom prst="rect">
            <a:avLst/>
          </a:prstGeom>
          <a:solidFill>
            <a:srgbClr val="57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7"/>
          <p:cNvSpPr txBox="1"/>
          <p:nvPr/>
        </p:nvSpPr>
        <p:spPr>
          <a:xfrm>
            <a:off x="628015" y="1234440"/>
            <a:ext cx="53035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Tx/>
            </a:pPr>
            <a:r>
              <a:rPr sz="2200" b="1">
                <a:solidFill>
                  <a:srgbClr val="1E3A5F"/>
                </a:solidFill>
                <a:latin typeface="Times New Roman" panose="02020603050405020304"/>
                <a:sym typeface="+mn-ea"/>
              </a:rPr>
              <a:t>Takeaways</a:t>
            </a:r>
            <a:endParaRPr sz="2200" b="1">
              <a:solidFill>
                <a:srgbClr val="1E3A5F"/>
              </a:solidFill>
              <a:latin typeface="Times New Roman" panose="02020603050405020304"/>
              <a:sym typeface="+mn-ea"/>
            </a:endParaRPr>
          </a:p>
        </p:txBody>
      </p:sp>
      <p:pic>
        <p:nvPicPr>
          <p:cNvPr id="50" name="Picture 8" descr="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83" y="1847088"/>
            <a:ext cx="384048" cy="384048"/>
          </a:xfrm>
          <a:prstGeom prst="rect">
            <a:avLst/>
          </a:prstGeom>
        </p:spPr>
      </p:pic>
      <p:sp>
        <p:nvSpPr>
          <p:cNvPr id="51" name="TextBox 9"/>
          <p:cNvSpPr txBox="1"/>
          <p:nvPr/>
        </p:nvSpPr>
        <p:spPr>
          <a:xfrm>
            <a:off x="1112647" y="1810512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chemeClr val="tx2">
                    <a:lumMod val="25000"/>
                  </a:schemeClr>
                </a:solidFill>
                <a:latin typeface="Arial" panose="020B0604020202020204"/>
              </a:rPr>
              <a:t>Self-learning loop works end-to-end, validated via real API calls</a:t>
            </a:r>
            <a:endParaRPr sz="1400" b="0" i="0">
              <a:solidFill>
                <a:schemeClr val="tx2">
                  <a:lumMod val="25000"/>
                </a:schemeClr>
              </a:solidFill>
              <a:latin typeface="Arial" panose="020B0604020202020204"/>
            </a:endParaRPr>
          </a:p>
        </p:txBody>
      </p:sp>
      <p:pic>
        <p:nvPicPr>
          <p:cNvPr id="52" name="Picture 10" descr="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83" y="2715768"/>
            <a:ext cx="384048" cy="384048"/>
          </a:xfrm>
          <a:prstGeom prst="rect">
            <a:avLst/>
          </a:prstGeom>
        </p:spPr>
      </p:pic>
      <p:sp>
        <p:nvSpPr>
          <p:cNvPr id="53" name="TextBox 11"/>
          <p:cNvSpPr txBox="1"/>
          <p:nvPr/>
        </p:nvSpPr>
        <p:spPr>
          <a:xfrm>
            <a:off x="1112647" y="2679191"/>
            <a:ext cx="4846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Tx/>
            </a:pPr>
            <a:r>
              <a:rPr>
                <a:solidFill>
                  <a:schemeClr val="tx2">
                    <a:lumMod val="25000"/>
                  </a:schemeClr>
                </a:solidFill>
                <a:sym typeface="+mn-ea"/>
              </a:rPr>
              <a:t>Supervisor resolved all 6 disagreements — 100% accuracy across all 4 rounds</a:t>
            </a:r>
            <a:endParaRPr>
              <a:solidFill>
                <a:schemeClr val="tx2">
                  <a:lumMod val="25000"/>
                </a:schemeClr>
              </a:solidFill>
              <a:sym typeface="+mn-ea"/>
            </a:endParaRPr>
          </a:p>
        </p:txBody>
      </p:sp>
      <p:pic>
        <p:nvPicPr>
          <p:cNvPr id="54" name="Picture 12" descr="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83" y="3584448"/>
            <a:ext cx="384048" cy="384048"/>
          </a:xfrm>
          <a:prstGeom prst="rect">
            <a:avLst/>
          </a:prstGeom>
        </p:spPr>
      </p:pic>
      <p:sp>
        <p:nvSpPr>
          <p:cNvPr id="55" name="TextBox 13"/>
          <p:cNvSpPr txBox="1"/>
          <p:nvPr/>
        </p:nvSpPr>
        <p:spPr>
          <a:xfrm>
            <a:off x="1112647" y="3547872"/>
            <a:ext cx="4846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Tx/>
            </a:pPr>
            <a:r>
              <a:rPr>
                <a:solidFill>
                  <a:schemeClr val="tx2">
                    <a:lumMod val="25000"/>
                  </a:schemeClr>
                </a:solidFill>
                <a:sym typeface="+mn-ea"/>
              </a:rPr>
              <a:t>Dual LlamaIndex index: live experience accumulation without rebuilding</a:t>
            </a:r>
            <a:endParaRPr>
              <a:solidFill>
                <a:schemeClr val="tx2">
                  <a:lumMod val="25000"/>
                </a:schemeClr>
              </a:solidFill>
              <a:sym typeface="+mn-ea"/>
            </a:endParaRPr>
          </a:p>
        </p:txBody>
      </p:sp>
      <p:pic>
        <p:nvPicPr>
          <p:cNvPr id="56" name="Picture 14" descr="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83" y="4453128"/>
            <a:ext cx="384048" cy="384048"/>
          </a:xfrm>
          <a:prstGeom prst="rect">
            <a:avLst/>
          </a:prstGeom>
        </p:spPr>
      </p:pic>
      <p:sp>
        <p:nvSpPr>
          <p:cNvPr id="57" name="TextBox 15"/>
          <p:cNvSpPr txBox="1"/>
          <p:nvPr/>
        </p:nvSpPr>
        <p:spPr>
          <a:xfrm>
            <a:off x="1112647" y="4416552"/>
            <a:ext cx="4846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Tx/>
            </a:pPr>
            <a:r>
              <a:rPr>
                <a:solidFill>
                  <a:schemeClr val="tx2">
                    <a:lumMod val="25000"/>
                  </a:schemeClr>
                </a:solidFill>
                <a:sym typeface="+mn-ea"/>
              </a:rPr>
              <a:t>Experience injection active from Round 1 — hints reach all workers</a:t>
            </a:r>
            <a:endParaRPr>
              <a:solidFill>
                <a:schemeClr val="tx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58" name="TextBox 16"/>
          <p:cNvSpPr txBox="1"/>
          <p:nvPr/>
        </p:nvSpPr>
        <p:spPr>
          <a:xfrm>
            <a:off x="781685" y="5321808"/>
            <a:ext cx="5303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Tx/>
            </a:pPr>
            <a:r>
              <a:rPr sz="2200" b="1">
                <a:solidFill>
                  <a:srgbClr val="1E3A5F"/>
                </a:solidFill>
                <a:latin typeface="Times New Roman" panose="02020603050405020304"/>
                <a:sym typeface="+mn-ea"/>
              </a:rPr>
              <a:t>Limitations</a:t>
            </a:r>
            <a:endParaRPr sz="2200" b="1">
              <a:solidFill>
                <a:srgbClr val="1E3A5F"/>
              </a:solidFill>
              <a:latin typeface="Times New Roman" panose="02020603050405020304"/>
              <a:sym typeface="+mn-ea"/>
            </a:endParaRPr>
          </a:p>
        </p:txBody>
      </p:sp>
      <p:sp>
        <p:nvSpPr>
          <p:cNvPr id="59" name="TextBox 17"/>
          <p:cNvSpPr txBox="1"/>
          <p:nvPr/>
        </p:nvSpPr>
        <p:spPr>
          <a:xfrm>
            <a:off x="610235" y="5864860"/>
            <a:ext cx="542607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Tx/>
            </a:pPr>
            <a:r>
              <a:rPr>
                <a:solidFill>
                  <a:schemeClr val="tx2">
                    <a:lumMod val="25000"/>
                  </a:schemeClr>
                </a:solidFill>
                <a:sym typeface="+mn-ea"/>
              </a:rPr>
              <a:t>Unanimous wrong answers undetectable</a:t>
            </a:r>
            <a:r>
              <a:rPr lang="zh-CN">
                <a:solidFill>
                  <a:schemeClr val="tx2">
                    <a:lumMod val="25000"/>
                  </a:schemeClr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>
                <a:solidFill>
                  <a:schemeClr val="tx2">
                    <a:lumMod val="25000"/>
                  </a:schemeClr>
                </a:solidFill>
                <a:sym typeface="+mn-ea"/>
              </a:rPr>
              <a:t>Manual biases</a:t>
            </a:r>
            <a:r>
              <a:rPr lang="zh-CN">
                <a:solidFill>
                  <a:schemeClr val="tx2">
                    <a:lumMod val="25000"/>
                  </a:schemeClr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>
                <a:solidFill>
                  <a:schemeClr val="tx2">
                    <a:lumMod val="25000"/>
                  </a:schemeClr>
                </a:solidFill>
                <a:sym typeface="+mn-ea"/>
              </a:rPr>
              <a:t>Sparse KB (10/60)</a:t>
            </a:r>
            <a:endParaRPr>
              <a:solidFill>
                <a:schemeClr val="tx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60" name="TextBox 18"/>
          <p:cNvSpPr txBox="1"/>
          <p:nvPr/>
        </p:nvSpPr>
        <p:spPr>
          <a:xfrm>
            <a:off x="6452743" y="12344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Times New Roman" panose="02020603050405020304"/>
              </a:rPr>
              <a:t>Future Work</a:t>
            </a:r>
            <a:endParaRPr sz="22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pic>
        <p:nvPicPr>
          <p:cNvPr id="61" name="Picture 19" descr="icon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743" y="1883664"/>
            <a:ext cx="438912" cy="438912"/>
          </a:xfrm>
          <a:prstGeom prst="rect">
            <a:avLst/>
          </a:prstGeom>
        </p:spPr>
      </p:pic>
      <p:sp>
        <p:nvSpPr>
          <p:cNvPr id="62" name="TextBox 20"/>
          <p:cNvSpPr txBox="1"/>
          <p:nvPr/>
        </p:nvSpPr>
        <p:spPr>
          <a:xfrm>
            <a:off x="7028815" y="18836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Times New Roman" panose="02020603050405020304"/>
              </a:rPr>
              <a:t>Scale Experiment</a:t>
            </a:r>
            <a:endParaRPr sz="16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63" name="TextBox 21"/>
          <p:cNvSpPr txBox="1"/>
          <p:nvPr/>
        </p:nvSpPr>
        <p:spPr>
          <a:xfrm>
            <a:off x="7028815" y="2267712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6"/>
                </a:solidFill>
                <a:latin typeface="Arial" panose="020B0604020202020204"/>
              </a:rPr>
              <a:t>500+ products on Amazon Reviews for robust disagreement decay curves</a:t>
            </a:r>
            <a:endParaRPr sz="1300" b="0" i="0">
              <a:solidFill>
                <a:srgbClr val="3D4A56"/>
              </a:solidFill>
              <a:latin typeface="Arial" panose="020B0604020202020204"/>
            </a:endParaRPr>
          </a:p>
        </p:txBody>
      </p:sp>
      <p:pic>
        <p:nvPicPr>
          <p:cNvPr id="64" name="Picture 22" descr="icon_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743" y="3054096"/>
            <a:ext cx="438912" cy="438912"/>
          </a:xfrm>
          <a:prstGeom prst="rect">
            <a:avLst/>
          </a:prstGeom>
        </p:spPr>
      </p:pic>
      <p:sp>
        <p:nvSpPr>
          <p:cNvPr id="65" name="TextBox 23"/>
          <p:cNvSpPr txBox="1"/>
          <p:nvPr/>
        </p:nvSpPr>
        <p:spPr>
          <a:xfrm>
            <a:off x="7028815" y="30540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Times New Roman" panose="02020603050405020304"/>
              </a:rPr>
              <a:t>Principled Biases</a:t>
            </a:r>
            <a:endParaRPr sz="16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66" name="TextBox 24"/>
          <p:cNvSpPr txBox="1"/>
          <p:nvPr/>
        </p:nvSpPr>
        <p:spPr>
          <a:xfrm>
            <a:off x="7028815" y="3438144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6"/>
                </a:solidFill>
                <a:latin typeface="Arial" panose="020B0604020202020204"/>
              </a:rPr>
              <a:t>Derive worker biases from empirical error profiles on validation data</a:t>
            </a:r>
            <a:endParaRPr sz="1300" b="0" i="0">
              <a:solidFill>
                <a:srgbClr val="3D4A56"/>
              </a:solidFill>
              <a:latin typeface="Arial" panose="020B0604020202020204"/>
            </a:endParaRPr>
          </a:p>
        </p:txBody>
      </p:sp>
      <p:pic>
        <p:nvPicPr>
          <p:cNvPr id="67" name="Picture 25" descr="icon_ind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743" y="4224528"/>
            <a:ext cx="438912" cy="438912"/>
          </a:xfrm>
          <a:prstGeom prst="rect">
            <a:avLst/>
          </a:prstGeom>
        </p:spPr>
      </p:pic>
      <p:sp>
        <p:nvSpPr>
          <p:cNvPr id="68" name="TextBox 26"/>
          <p:cNvSpPr txBox="1"/>
          <p:nvPr/>
        </p:nvSpPr>
        <p:spPr>
          <a:xfrm>
            <a:off x="7028815" y="42245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Times New Roman" panose="02020603050405020304"/>
              </a:rPr>
              <a:t>Experience Decay</a:t>
            </a:r>
            <a:endParaRPr sz="16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69" name="TextBox 27"/>
          <p:cNvSpPr txBox="1"/>
          <p:nvPr/>
        </p:nvSpPr>
        <p:spPr>
          <a:xfrm>
            <a:off x="7028815" y="4608576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6"/>
                </a:solidFill>
                <a:latin typeface="Arial" panose="020B0604020202020204"/>
              </a:rPr>
              <a:t>Add confidence scoring &amp; time-decay forgetting for stale experiences</a:t>
            </a:r>
            <a:endParaRPr sz="1300" b="0" i="0">
              <a:solidFill>
                <a:srgbClr val="3D4A56"/>
              </a:solidFill>
              <a:latin typeface="Arial" panose="020B0604020202020204"/>
            </a:endParaRPr>
          </a:p>
        </p:txBody>
      </p:sp>
      <p:pic>
        <p:nvPicPr>
          <p:cNvPr id="70" name="Picture 28" descr="icon_lo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743" y="5394960"/>
            <a:ext cx="438912" cy="438912"/>
          </a:xfrm>
          <a:prstGeom prst="rect">
            <a:avLst/>
          </a:prstGeom>
        </p:spPr>
      </p:pic>
      <p:sp>
        <p:nvSpPr>
          <p:cNvPr id="71" name="TextBox 29"/>
          <p:cNvSpPr txBox="1"/>
          <p:nvPr/>
        </p:nvSpPr>
        <p:spPr>
          <a:xfrm>
            <a:off x="7028815" y="53949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Times New Roman" panose="02020603050405020304"/>
              </a:rPr>
              <a:t>Multilingual</a:t>
            </a:r>
            <a:endParaRPr sz="1600" b="1" i="0">
              <a:solidFill>
                <a:srgbClr val="1E3A5F"/>
              </a:solidFill>
              <a:latin typeface="Times New Roman" panose="02020603050405020304"/>
            </a:endParaRPr>
          </a:p>
        </p:txBody>
      </p:sp>
      <p:sp>
        <p:nvSpPr>
          <p:cNvPr id="72" name="TextBox 30"/>
          <p:cNvSpPr txBox="1"/>
          <p:nvPr/>
        </p:nvSpPr>
        <p:spPr>
          <a:xfrm>
            <a:off x="7028815" y="5779008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4A56"/>
                </a:solidFill>
                <a:latin typeface="Arial" panose="020B0604020202020204"/>
              </a:rPr>
              <a:t>Extend to multilingual classification tasks in CSS &amp; NLP research</a:t>
            </a:r>
            <a:endParaRPr sz="1300" b="0" i="0">
              <a:solidFill>
                <a:srgbClr val="3D4A5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0"/>
          <p:cNvPicPr preferRelativeResize="0"/>
          <p:nvPr/>
        </p:nvPicPr>
        <p:blipFill rotWithShape="1">
          <a:blip r:embed="rId1"/>
          <a:srcRect t="20604" b="20604"/>
          <a:stretch>
            <a:fillRect/>
          </a:stretch>
        </p:blipFill>
        <p:spPr>
          <a:xfrm>
            <a:off x="-8963" y="1606210"/>
            <a:ext cx="12212264" cy="302263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>
            <a:off x="-14477" y="1621302"/>
            <a:ext cx="12212264" cy="3013674"/>
          </a:xfrm>
          <a:prstGeom prst="rect">
            <a:avLst/>
          </a:prstGeom>
          <a:solidFill>
            <a:srgbClr val="003A89">
              <a:alpha val="81960"/>
            </a:srgbClr>
          </a:solidFill>
          <a:ln w="12700" cap="flat" cmpd="sng">
            <a:solidFill>
              <a:srgbClr val="48A1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Thanks for Your Listening</a:t>
            </a:r>
            <a:endParaRPr lang="en-US" sz="6000" b="0" i="0" u="none" strike="noStrike" cap="none">
              <a:solidFill>
                <a:schemeClr val="bg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2"/>
          <a:srcRect l="-5309" t="-4344" r="-2255" b="-7613"/>
          <a:stretch>
            <a:fillRect/>
          </a:stretch>
        </p:blipFill>
        <p:spPr>
          <a:xfrm>
            <a:off x="-7091" y="226176"/>
            <a:ext cx="4508333" cy="672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2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3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4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5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6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7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8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9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10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11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ags/tag12.xml><?xml version="1.0" encoding="utf-8"?>
<p:tagLst xmlns:p="http://schemas.openxmlformats.org/presentationml/2006/main">
  <p:tag name="KSO_WM_DIAGRAM_VIRTUALLY_FRAME" val="{&quot;height&quot;:340.3,&quot;left&quot;:60.05,&quot;top&quot;:112.35,&quot;width&quot;:840.15}"/>
</p:tagLst>
</file>

<file path=ppt/theme/theme1.xml><?xml version="1.0" encoding="utf-8"?>
<a:theme xmlns:a="http://schemas.openxmlformats.org/drawingml/2006/main" name="Office 主题">
  <a:themeElements>
    <a:clrScheme name="自定义 79">
      <a:dk1>
        <a:srgbClr val="0061AE"/>
      </a:dk1>
      <a:lt1>
        <a:srgbClr val="FFFFFF"/>
      </a:lt1>
      <a:dk2>
        <a:srgbClr val="44546A"/>
      </a:dk2>
      <a:lt2>
        <a:srgbClr val="E7E6E6"/>
      </a:lt2>
      <a:accent1>
        <a:srgbClr val="011557"/>
      </a:accent1>
      <a:accent2>
        <a:srgbClr val="B48F57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3769</Words>
  <Application>WPS 演示</Application>
  <PresentationFormat/>
  <Paragraphs>193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Arial</vt:lpstr>
      <vt:lpstr>Noto Sans Symbols</vt:lpstr>
      <vt:lpstr>Segoe Print</vt:lpstr>
      <vt:lpstr>Times New Roman</vt:lpstr>
      <vt:lpstr>微软雅黑</vt:lpstr>
      <vt:lpstr>Arial Unicode MS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YH</cp:lastModifiedBy>
  <cp:revision>2</cp:revision>
  <dcterms:created xsi:type="dcterms:W3CDTF">2026-05-04T17:14:00Z</dcterms:created>
  <dcterms:modified xsi:type="dcterms:W3CDTF">2026-05-05T13:24:37Z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475F831536404E0B8694097BD2FEC1ED_12</vt:lpwstr>
  </property>
  <property fmtid="{D5CDD505-2E9C-101B-9397-08002B2CF9AE}" pid="3" name="KSOProductBuildVer">
    <vt:lpwstr>2052-12.1.0.25225</vt:lpwstr>
  </property>
</Properties>
</file>